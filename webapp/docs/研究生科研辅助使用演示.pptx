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1"/>
  </p:sldMasterIdLst>
  <p:sldIdLst>
    <p:sldId id="257" r:id="rId1"/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</p:sldIdLst>
  <p:sldSz cx="12191695" cy="6858000" type="wide"/>
  <p:notesSz cx="6858000" cy="9144000"/>
  <p:defaultTextStyle>
    <a:defPPr>
      <a:defRPr lang="zh-CN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58368" y="621792"/>
            <a:ext cx="2011680" cy="292608"/>
          </a:xfrm>
          <a:prstGeom prst="roundRect">
            <a:avLst/>
          </a:prstGeom>
          <a:solidFill>
            <a:srgbClr val="E5F7F8"/>
          </a:solidFill>
          <a:ln w="9525">
            <a:solidFill>
              <a:srgbClr val="B9E7EB"/>
            </a:solidFill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850">
                <a:b/>
                <a:solidFill>
                  <a:srgbClr val="0A7D87"/>
                </a:solidFill>
                <a:latin typeface="Microsoft YaHei"/>
                <a:ea typeface="Microsoft YaHei"/>
                <a:cs typeface="Microsoft YaHei"/>
              </a:rPr>
              <a:t>研究生科研训练演示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58368" y="1078992"/>
            <a:ext cx="7452360" cy="1170432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2750">
                <a:b/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用 AI Co-Scientist 工作台</a:t>
            </a:r>
          </a:p>
          <a:p>
            <a:r>
              <a:rPr lang="zh-CN" sz="2750">
                <a:b/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辅助完成可证据追溯的科研流程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94944" y="2487168"/>
            <a:ext cx="6903720" cy="749808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1150">
                <a:solidFill>
                  <a:srgbClr val="52606B"/>
                </a:solidFill>
                <a:latin typeface="Microsoft YaHei"/>
                <a:ea typeface="Microsoft YaHei"/>
                <a:cs typeface="Microsoft YaHei"/>
              </a:rPr>
              <a:t>从论文解析、证据入库、假设生成，到实验设计、审查和报告输出。重点不是“让模型替你发现真理”，而是让每个研究判断都有来源、有过程、有下一步。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138160" y="822960"/>
            <a:ext cx="3291840" cy="1005840"/>
          </a:xfrm>
          <a:prstGeom prst="roundRect">
            <a:avLst/>
          </a:prstGeom>
          <a:solidFill>
            <a:srgbClr val="E5F7F8"/>
          </a:solidFill>
          <a:ln w="9525">
            <a:solidFill>
              <a:srgbClr val="B9E7EB"/>
            </a:solidFill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适用对象</a:t>
            </a:r>
          </a:p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硕士/博士新生、课题组成员、做文献综述/实验设计/论文写作的研究者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138160" y="2011680"/>
            <a:ext cx="3291840" cy="1005840"/>
          </a:xfrm>
          <a:prstGeom prst="roundRect">
            <a:avLst/>
          </a:prstGeom>
          <a:solidFill>
            <a:srgbClr val="E9F7EF"/>
          </a:solidFill>
          <a:ln w="9525">
            <a:solidFill>
              <a:srgbClr val="B8E4CB"/>
            </a:solidFill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核心原则</a:t>
            </a:r>
          </a:p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真实科学结论必须连接 fulltext、chunk、citation、experiment 或 source-code evidence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138160" y="3200400"/>
            <a:ext cx="3291840" cy="1005840"/>
          </a:xfrm>
          <a:prstGeom prst="roundRect">
            <a:avLst/>
          </a:prstGeom>
          <a:solidFill>
            <a:srgbClr val="FFF5E7"/>
          </a:solidFill>
          <a:ln w="9525">
            <a:solidFill>
              <a:srgbClr val="F1D5AA"/>
            </a:solidFill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模型通道</a:t>
            </a:r>
          </a:p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DeepSeek / Qwen / OpenAI / Anthropic / Gemini / MiMo 可作为基座模型协议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31520" y="4160520"/>
            <a:ext cx="2377440" cy="301752"/>
          </a:xfrm>
          <a:prstGeom prst="roundRect">
            <a:avLst/>
          </a:prstGeom>
          <a:solidFill>
            <a:srgbClr val="FFF5E7"/>
          </a:solidFill>
          <a:ln w="9525">
            <a:solidFill>
              <a:srgbClr val="F1D5AA"/>
            </a:solidFill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850">
                <a:b/>
                <a:solidFill>
                  <a:srgbClr val="9A5B10"/>
                </a:solidFill>
                <a:latin typeface="Microsoft YaHei"/>
                <a:ea typeface="Microsoft YaHei"/>
                <a:cs typeface="Microsoft YaHei"/>
              </a:rPr>
              <a:t>Demo simulation 不能作为科学证据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337560" y="4160520"/>
            <a:ext cx="3383280" cy="301752"/>
          </a:xfrm>
          <a:prstGeom prst="roundRect">
            <a:avLst/>
          </a:prstGeom>
          <a:solidFill>
            <a:srgbClr val="E9F7EF"/>
          </a:solidFill>
          <a:ln w="9525">
            <a:solidFill>
              <a:srgbClr val="B8E4CB"/>
            </a:solidFill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850">
                <a:b/>
                <a:solidFill>
                  <a:srgbClr val="18794E"/>
                </a:solidFill>
                <a:latin typeface="Microsoft YaHei"/>
                <a:ea typeface="Microsoft YaHei"/>
                <a:cs typeface="Microsoft YaHei"/>
              </a:rPr>
              <a:t>Literature-grounded workflow 才能支持真实 claim</a:t>
            </a:r>
          </a:p>
        </p:txBody>
      </p:sp>
      <p:sp>
        <p:nvSpPr>
          <p:cNvPr id="990" name="TextBox 990"/>
          <p:cNvSpPr txBox="1"/>
          <p:nvPr/>
        </p:nvSpPr>
        <p:spPr>
          <a:xfrm>
            <a:off x="548640" y="644652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650">
                <a:solidFill>
                  <a:srgbClr val="66717B"/>
                </a:solidFill>
                <a:latin typeface="Microsoft YaHei"/>
                <a:ea typeface="Microsoft YaHei"/>
                <a:cs typeface="Microsoft YaHei"/>
              </a:rPr>
              <a:t>Open Co-Scientist Research Workbench</a:t>
            </a:r>
          </a:p>
        </p:txBody>
      </p:sp>
      <p:sp>
        <p:nvSpPr>
          <p:cNvPr id="991" name="TextBox 991"/>
          <p:cNvSpPr txBox="1"/>
          <p:nvPr/>
        </p:nvSpPr>
        <p:spPr>
          <a:xfrm>
            <a:off x="6583680" y="644652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650">
                <a:solidFill>
                  <a:srgbClr val="66717B"/>
                </a:solidFill>
                <a:latin typeface="Microsoft YaHei"/>
                <a:ea typeface="Microsoft YaHei"/>
                <a:cs typeface="Microsoft YaHei"/>
              </a:rPr>
              <a:t>evidence-first · human-in-the-loop · MiMo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Box 900"/>
          <p:cNvSpPr txBox="1"/>
          <p:nvPr/>
        </p:nvSpPr>
        <p:spPr>
          <a:xfrm>
            <a:off x="530352" y="34747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850">
                <a:b/>
                <a:solidFill>
                  <a:srgbClr val="0A7D87"/>
                </a:solidFill>
                <a:latin typeface="Microsoft YaHei"/>
                <a:ea typeface="Microsoft YaHei"/>
                <a:cs typeface="Microsoft YaHei"/>
              </a:rPr>
              <a:t>为什么需要这个工作台</a:t>
            </a:r>
          </a:p>
        </p:txBody>
      </p:sp>
      <p:sp>
        <p:nvSpPr>
          <p:cNvPr id="901" name="TextBox 901"/>
          <p:cNvSpPr txBox="1"/>
          <p:nvPr/>
        </p:nvSpPr>
        <p:spPr>
          <a:xfrm>
            <a:off x="530352" y="713232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2450">
                <a:b/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研究生科研常见断点</a:t>
            </a:r>
          </a:p>
        </p:txBody>
      </p:sp>
      <p:sp>
        <p:nvSpPr>
          <p:cNvPr id="902" name="TextBox 902"/>
          <p:cNvSpPr txBox="1"/>
          <p:nvPr/>
        </p:nvSpPr>
        <p:spPr>
          <a:xfrm>
            <a:off x="548640" y="1261872"/>
            <a:ext cx="87782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1050">
                <a:solidFill>
                  <a:srgbClr val="52606B"/>
                </a:solidFill>
                <a:latin typeface="Microsoft YaHei"/>
                <a:ea typeface="Microsoft YaHei"/>
                <a:cs typeface="Microsoft YaHei"/>
              </a:rPr>
              <a:t>从“生成答案”转向“管理证据和验证路径”。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5800" y="1828800"/>
            <a:ext cx="2560320" cy="1828800"/>
          </a:xfrm>
          <a:prstGeom prst="roundRect">
            <a:avLst/>
          </a:prstGeom>
          <a:solidFill>
            <a:srgbClr val="FFF5E7"/>
          </a:solidFill>
          <a:ln w="9525">
            <a:solidFill>
              <a:srgbClr val="F1D5AA"/>
            </a:solidFill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文献读了很多，但难追溯</a:t>
            </a:r>
          </a:p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摘要、PDF 全文、表格、实验设置、代码线索分散在不同文件。写作时很难回答“这句话从哪里来”。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20440" y="1828800"/>
            <a:ext cx="2560320" cy="1828800"/>
          </a:xfrm>
          <a:prstGeom prst="roundRect">
            <a:avLst/>
          </a:prstGeom>
          <a:solidFill>
            <a:srgbClr val="FFF5E7"/>
          </a:solidFill>
          <a:ln w="9525">
            <a:solidFill>
              <a:srgbClr val="F1D5AA"/>
            </a:solidFill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假设很容易乐观化</a:t>
            </a:r>
          </a:p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模型能生成很多想法，但如果没有反证、失败条件和实验计划，很难变成可发表研究。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355080" y="1828800"/>
            <a:ext cx="2560320" cy="1828800"/>
          </a:xfrm>
          <a:prstGeom prst="roundRect">
            <a:avLst/>
          </a:prstGeom>
          <a:solidFill>
            <a:srgbClr val="FFF5E7"/>
          </a:solidFill>
          <a:ln w="9525">
            <a:solidFill>
              <a:srgbClr val="F1D5AA"/>
            </a:solidFill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实验设计缺少闭环</a:t>
            </a:r>
          </a:p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数据集、baseline、metric、统计检验和日志结果没有和假设绑定，复盘成本高。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89720" y="1828800"/>
            <a:ext cx="2286000" cy="1828800"/>
          </a:xfrm>
          <a:prstGeom prst="roundRect">
            <a:avLst/>
          </a:prstGeom>
          <a:solidFill>
            <a:srgbClr val="FFF5E7"/>
          </a:solidFill>
          <a:ln w="9525">
            <a:solidFill>
              <a:srgbClr val="F1D5AA"/>
            </a:solidFill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工具调用不可审计</a:t>
            </a:r>
          </a:p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搜索、解析、截图、脚本执行如果只在聊天里发生，后续无法复现。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4400" y="4343400"/>
            <a:ext cx="10241280" cy="1005840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12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• 本项目的定位：科研工作台，不是聊天机器人。</a:t>
            </a:r>
          </a:p>
          <a:p>
            <a:r>
              <a:rPr lang="zh-CN" sz="12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• 所有关键输出都应进入 SQLite / knowledge base / artifact。</a:t>
            </a:r>
          </a:p>
          <a:p>
            <a:r>
              <a:rPr lang="zh-CN" sz="12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• 默认隐藏内部实现，但保留可展开审计入口。</a:t>
            </a:r>
          </a:p>
        </p:txBody>
      </p:sp>
      <p:sp>
        <p:nvSpPr>
          <p:cNvPr id="990" name="TextBox 990"/>
          <p:cNvSpPr txBox="1"/>
          <p:nvPr/>
        </p:nvSpPr>
        <p:spPr>
          <a:xfrm>
            <a:off x="548640" y="644652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650">
                <a:solidFill>
                  <a:srgbClr val="66717B"/>
                </a:solidFill>
                <a:latin typeface="Microsoft YaHei"/>
                <a:ea typeface="Microsoft YaHei"/>
                <a:cs typeface="Microsoft YaHei"/>
              </a:rPr>
              <a:t>Open Co-Scientist Research Workbench</a:t>
            </a:r>
          </a:p>
        </p:txBody>
      </p:sp>
      <p:sp>
        <p:nvSpPr>
          <p:cNvPr id="991" name="TextBox 991"/>
          <p:cNvSpPr txBox="1"/>
          <p:nvPr/>
        </p:nvSpPr>
        <p:spPr>
          <a:xfrm>
            <a:off x="6583680" y="644652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650">
                <a:solidFill>
                  <a:srgbClr val="66717B"/>
                </a:solidFill>
                <a:latin typeface="Microsoft YaHei"/>
                <a:ea typeface="Microsoft YaHei"/>
                <a:cs typeface="Microsoft YaHei"/>
              </a:rPr>
              <a:t>evidence-first · human-in-the-loop · MiMo ready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Box 900"/>
          <p:cNvSpPr txBox="1"/>
          <p:nvPr/>
        </p:nvSpPr>
        <p:spPr>
          <a:xfrm>
            <a:off x="530352" y="34747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850">
                <a:b/>
                <a:solidFill>
                  <a:srgbClr val="0A7D87"/>
                </a:solidFill>
                <a:latin typeface="Microsoft YaHei"/>
                <a:ea typeface="Microsoft YaHei"/>
                <a:cs typeface="Microsoft YaHei"/>
              </a:rPr>
              <a:t>完整科研路径</a:t>
            </a:r>
          </a:p>
        </p:txBody>
      </p:sp>
      <p:sp>
        <p:nvSpPr>
          <p:cNvPr id="901" name="TextBox 901"/>
          <p:cNvSpPr txBox="1"/>
          <p:nvPr/>
        </p:nvSpPr>
        <p:spPr>
          <a:xfrm>
            <a:off x="530352" y="713232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2450">
                <a:b/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从研究目标到可复核产出</a:t>
            </a:r>
          </a:p>
        </p:txBody>
      </p:sp>
      <p:sp>
        <p:nvSpPr>
          <p:cNvPr id="902" name="TextBox 902"/>
          <p:cNvSpPr txBox="1"/>
          <p:nvPr/>
        </p:nvSpPr>
        <p:spPr>
          <a:xfrm>
            <a:off x="548640" y="1261872"/>
            <a:ext cx="87782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1050">
                <a:solidFill>
                  <a:srgbClr val="52606B"/>
                </a:solidFill>
                <a:latin typeface="Microsoft YaHei"/>
                <a:ea typeface="Microsoft YaHei"/>
                <a:cs typeface="Microsoft YaHei"/>
              </a:rPr>
              <a:t>研究生可以按任务推进，而不是理解底层 Agent Graph。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31520" y="1783080"/>
            <a:ext cx="3246120" cy="1133856"/>
          </a:xfrm>
          <a:prstGeom prst="roundRect">
            <a:avLst/>
          </a:prstGeom>
          <a:solidFill>
            <a:srgbClr val="E5F7F8"/>
          </a:solidFill>
          <a:ln w="9525">
            <a:solidFill>
              <a:srgbClr val="B9E7EB"/>
            </a:solidFill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1. 定义研究目标</a:t>
            </a:r>
          </a:p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写清楚 research_goal、约束、研究范围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434840" y="1783080"/>
            <a:ext cx="3246120" cy="1133856"/>
          </a:xfrm>
          <a:prstGeom prst="roundRect">
            <a:avLst/>
          </a:prstGeom>
          <a:solidFill>
            <a:srgbClr val="E5F7F8"/>
          </a:solidFill>
          <a:ln w="9525">
            <a:solidFill>
              <a:srgbClr val="B9E7EB"/>
            </a:solidFill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2. 导入论文资料</a:t>
            </a:r>
          </a:p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PDF 解析、metadata、chunks、media、BibTeX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138160" y="1783080"/>
            <a:ext cx="3246120" cy="1133856"/>
          </a:xfrm>
          <a:prstGeom prst="roundRect">
            <a:avLst/>
          </a:prstGeom>
          <a:solidFill>
            <a:srgbClr val="E5F7F8"/>
          </a:solidFill>
          <a:ln w="9525">
            <a:solidFill>
              <a:srgbClr val="B9E7EB"/>
            </a:solidFill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3. 检索证据</a:t>
            </a:r>
          </a:p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RAG / web / source snapshot / session search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31520" y="3383280"/>
            <a:ext cx="3246120" cy="1133856"/>
          </a:xfrm>
          <a:prstGeom prst="roundRect">
            <a:avLst/>
          </a:prstGeom>
          <a:solidFill>
            <a:srgbClr val="E9F7EF"/>
          </a:solidFill>
          <a:ln w="9525">
            <a:solidFill>
              <a:srgbClr val="B8E4CB"/>
            </a:solidFill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4. 生成候选假设</a:t>
            </a:r>
          </a:p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技术假设、解释、文献支撑、实验计划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434840" y="3383280"/>
            <a:ext cx="3246120" cy="1133856"/>
          </a:xfrm>
          <a:prstGeom prst="roundRect">
            <a:avLst/>
          </a:prstGeom>
          <a:solidFill>
            <a:srgbClr val="E9F7EF"/>
          </a:solidFill>
          <a:ln w="9525">
            <a:solidFill>
              <a:srgbClr val="B8E4CB"/>
            </a:solidFill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5. 审查与排序</a:t>
            </a:r>
          </a:p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review rubric、Elo/tournament、meta-review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138160" y="3383280"/>
            <a:ext cx="3246120" cy="1133856"/>
          </a:xfrm>
          <a:prstGeom prst="roundRect">
            <a:avLst/>
          </a:prstGeom>
          <a:solidFill>
            <a:srgbClr val="E9F7EF"/>
          </a:solidFill>
          <a:ln w="9525">
            <a:solidFill>
              <a:srgbClr val="B8E4CB"/>
            </a:solidFill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6. 实验与报告</a:t>
            </a:r>
          </a:p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可证伪实验、日志分析、报告草稿导出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77240" y="5394960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1050">
                <a:solidFill>
                  <a:srgbClr val="52606B"/>
                </a:solidFill>
                <a:latin typeface="Microsoft YaHei"/>
                <a:ea typeface="Microsoft YaHei"/>
                <a:cs typeface="Microsoft YaHei"/>
              </a:rPr>
              <a:t>每一步都产生可引用对象：paper_id、chunk_id、evidence_id、result_ref、task_id、run_id。默认 UI 不暴露这些内部字段，但审计时可以展开。</a:t>
            </a:r>
          </a:p>
        </p:txBody>
      </p:sp>
      <p:sp>
        <p:nvSpPr>
          <p:cNvPr id="990" name="TextBox 990"/>
          <p:cNvSpPr txBox="1"/>
          <p:nvPr/>
        </p:nvSpPr>
        <p:spPr>
          <a:xfrm>
            <a:off x="548640" y="644652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650">
                <a:solidFill>
                  <a:srgbClr val="66717B"/>
                </a:solidFill>
                <a:latin typeface="Microsoft YaHei"/>
                <a:ea typeface="Microsoft YaHei"/>
                <a:cs typeface="Microsoft YaHei"/>
              </a:rPr>
              <a:t>Open Co-Scientist Research Workbench</a:t>
            </a:r>
          </a:p>
        </p:txBody>
      </p:sp>
      <p:sp>
        <p:nvSpPr>
          <p:cNvPr id="991" name="TextBox 991"/>
          <p:cNvSpPr txBox="1"/>
          <p:nvPr/>
        </p:nvSpPr>
        <p:spPr>
          <a:xfrm>
            <a:off x="6583680" y="644652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650">
                <a:solidFill>
                  <a:srgbClr val="66717B"/>
                </a:solidFill>
                <a:latin typeface="Microsoft YaHei"/>
                <a:ea typeface="Microsoft YaHei"/>
                <a:cs typeface="Microsoft YaHei"/>
              </a:rPr>
              <a:t>evidence-first · human-in-the-loop · MiMo ready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Box 900"/>
          <p:cNvSpPr txBox="1"/>
          <p:nvPr/>
        </p:nvSpPr>
        <p:spPr>
          <a:xfrm>
            <a:off x="530352" y="34747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850">
                <a:b/>
                <a:solidFill>
                  <a:srgbClr val="0A7D87"/>
                </a:solidFill>
                <a:latin typeface="Microsoft YaHei"/>
                <a:ea typeface="Microsoft YaHei"/>
                <a:cs typeface="Microsoft YaHei"/>
              </a:rPr>
              <a:t>第一步</a:t>
            </a:r>
          </a:p>
        </p:txBody>
      </p:sp>
      <p:sp>
        <p:nvSpPr>
          <p:cNvPr id="901" name="TextBox 901"/>
          <p:cNvSpPr txBox="1"/>
          <p:nvPr/>
        </p:nvSpPr>
        <p:spPr>
          <a:xfrm>
            <a:off x="530352" y="713232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2450">
                <a:b/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在工作区定义研究目标并启动候选假设生成</a:t>
            </a:r>
          </a:p>
        </p:txBody>
      </p:sp>
      <p:sp>
        <p:nvSpPr>
          <p:cNvPr id="902" name="TextBox 902"/>
          <p:cNvSpPr txBox="1"/>
          <p:nvPr/>
        </p:nvSpPr>
        <p:spPr>
          <a:xfrm>
            <a:off x="548640" y="1261872"/>
            <a:ext cx="87782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1050">
                <a:solidFill>
                  <a:srgbClr val="52606B"/>
                </a:solidFill>
                <a:latin typeface="Microsoft YaHei"/>
                <a:ea typeface="Microsoft YaHei"/>
                <a:cs typeface="Microsoft YaHei"/>
              </a:rPr>
              <a:t>模型输出不是终点；它只是进入证据审查和实验设计的起点。</a:t>
            </a: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5760720" cy="3886200"/>
          </a:xfrm>
          <a:prstGeom prst="rect">
            <a:avLst/>
          </a:prstGeom>
          <a:ln w="9525">
            <a:solidFill>
              <a:srgbClr val="DDE5EA"/>
            </a:solidFill>
          </a:ln>
        </p:spPr>
      </p:pic>
      <p:sp>
        <p:nvSpPr>
          <p:cNvPr id="41" name="TextBox 41"/>
          <p:cNvSpPr txBox="1"/>
          <p:nvPr/>
        </p:nvSpPr>
        <p:spPr>
          <a:xfrm>
            <a:off x="6784848" y="1783080"/>
            <a:ext cx="4434840" cy="3429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12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• 输入明确 research_goal，而不是泛泛提问。</a:t>
            </a:r>
          </a:p>
          <a:p>
            <a:r>
              <a:rPr lang="zh-CN" sz="12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• 选择 live model workflow，必要时降低假设数量和迭代次数。</a:t>
            </a:r>
          </a:p>
          <a:p>
            <a:r>
              <a:rPr lang="zh-CN" sz="12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• 如果 literature MCP 不可达，应标记为 ungrounded proposal。</a:t>
            </a:r>
          </a:p>
          <a:p>
            <a:r>
              <a:rPr lang="zh-CN" sz="12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• 完成后查看候选假设、实验计划、ranking 和 evidence drawer。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766560" y="5230368"/>
            <a:ext cx="4526280" cy="713232"/>
          </a:xfrm>
          <a:prstGeom prst="roundRect">
            <a:avLst/>
          </a:prstGeom>
          <a:solidFill>
            <a:srgbClr val="E9F7EF"/>
          </a:solidFill>
          <a:ln w="9525">
            <a:solidFill>
              <a:srgbClr val="B8E4CB"/>
            </a:solidFill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导师检查点</a:t>
            </a:r>
          </a:p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让学生说明：该假设的证据来源、可证伪条件、失败结果如何解释。</a:t>
            </a:r>
          </a:p>
        </p:txBody>
      </p:sp>
      <p:sp>
        <p:nvSpPr>
          <p:cNvPr id="990" name="TextBox 990"/>
          <p:cNvSpPr txBox="1"/>
          <p:nvPr/>
        </p:nvSpPr>
        <p:spPr>
          <a:xfrm>
            <a:off x="548640" y="644652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650">
                <a:solidFill>
                  <a:srgbClr val="66717B"/>
                </a:solidFill>
                <a:latin typeface="Microsoft YaHei"/>
                <a:ea typeface="Microsoft YaHei"/>
                <a:cs typeface="Microsoft YaHei"/>
              </a:rPr>
              <a:t>Open Co-Scientist Research Workbench</a:t>
            </a:r>
          </a:p>
        </p:txBody>
      </p:sp>
      <p:sp>
        <p:nvSpPr>
          <p:cNvPr id="991" name="TextBox 991"/>
          <p:cNvSpPr txBox="1"/>
          <p:nvPr/>
        </p:nvSpPr>
        <p:spPr>
          <a:xfrm>
            <a:off x="6583680" y="644652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650">
                <a:solidFill>
                  <a:srgbClr val="66717B"/>
                </a:solidFill>
                <a:latin typeface="Microsoft YaHei"/>
                <a:ea typeface="Microsoft YaHei"/>
                <a:cs typeface="Microsoft YaHei"/>
              </a:rPr>
              <a:t>evidence-first · human-in-the-loop · MiMo ready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Box 900"/>
          <p:cNvSpPr txBox="1"/>
          <p:nvPr/>
        </p:nvSpPr>
        <p:spPr>
          <a:xfrm>
            <a:off x="530352" y="34747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850">
                <a:b/>
                <a:solidFill>
                  <a:srgbClr val="0A7D87"/>
                </a:solidFill>
                <a:latin typeface="Microsoft YaHei"/>
                <a:ea typeface="Microsoft YaHei"/>
                <a:cs typeface="Microsoft YaHei"/>
              </a:rPr>
              <a:t>第二步</a:t>
            </a:r>
          </a:p>
        </p:txBody>
      </p:sp>
      <p:sp>
        <p:nvSpPr>
          <p:cNvPr id="901" name="TextBox 901"/>
          <p:cNvSpPr txBox="1"/>
          <p:nvPr/>
        </p:nvSpPr>
        <p:spPr>
          <a:xfrm>
            <a:off x="530352" y="713232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2450">
                <a:b/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把 PDF 变成知识库证据，而不是只上传文件</a:t>
            </a:r>
          </a:p>
        </p:txBody>
      </p:sp>
      <p:sp>
        <p:nvSpPr>
          <p:cNvPr id="902" name="TextBox 902"/>
          <p:cNvSpPr txBox="1"/>
          <p:nvPr/>
        </p:nvSpPr>
        <p:spPr>
          <a:xfrm>
            <a:off x="548640" y="1261872"/>
            <a:ext cx="87782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1050">
                <a:solidFill>
                  <a:srgbClr val="52606B"/>
                </a:solidFill>
                <a:latin typeface="Microsoft YaHei"/>
                <a:ea typeface="Microsoft YaHei"/>
                <a:cs typeface="Microsoft YaHei"/>
              </a:rPr>
              <a:t>PDF 解析后的 fulltext chunks 是后续假设支撑的基础。</a:t>
            </a:r>
          </a:p>
        </p:txBody>
      </p:sp>
      <p:pic>
        <p:nvPicPr>
          <p:cNvPr id="50" name="Picture 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81328"/>
            <a:ext cx="5715000" cy="4023360"/>
          </a:xfrm>
          <a:prstGeom prst="rect">
            <a:avLst/>
          </a:prstGeom>
          <a:ln w="9525">
            <a:solidFill>
              <a:srgbClr val="DDE5EA"/>
            </a:solidFill>
          </a:ln>
        </p:spPr>
      </p:pic>
      <p:sp>
        <p:nvSpPr>
          <p:cNvPr id="51" name="TextBox 51"/>
          <p:cNvSpPr txBox="1"/>
          <p:nvPr/>
        </p:nvSpPr>
        <p:spPr>
          <a:xfrm>
            <a:off x="6720840" y="1691640"/>
            <a:ext cx="4480560" cy="3246120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12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• 解析 PDF 并写入 RAG 知识库。</a:t>
            </a:r>
          </a:p>
          <a:p>
            <a:r>
              <a:rPr lang="zh-CN" sz="12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• 保存 extracted text、metadata、chunks、media、BibTeX。</a:t>
            </a:r>
          </a:p>
          <a:p>
            <a:r>
              <a:rPr lang="zh-CN" sz="12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• 按 section type 切分：abstract / methods / experiments / results / tables。</a:t>
            </a:r>
          </a:p>
          <a:p>
            <a:r>
              <a:rPr lang="zh-CN" sz="12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• 实验数据摘要进入 experiment_data_summary，供假设 evidence view 调用。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748272" y="5212080"/>
            <a:ext cx="3246120" cy="301752"/>
          </a:xfrm>
          <a:prstGeom prst="roundRect">
            <a:avLst/>
          </a:prstGeom>
          <a:solidFill>
            <a:srgbClr val="E9F7EF"/>
          </a:solidFill>
          <a:ln w="9525">
            <a:solidFill>
              <a:srgbClr val="B8E4CB"/>
            </a:solidFill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850">
                <a:b/>
                <a:solidFill>
                  <a:srgbClr val="18794E"/>
                </a:solidFill>
                <a:latin typeface="Microsoft YaHei"/>
                <a:ea typeface="Microsoft YaHei"/>
                <a:cs typeface="Microsoft YaHei"/>
              </a:rPr>
              <a:t>parsed_fulltext &gt; abstract-only &gt; metadata-only</a:t>
            </a:r>
          </a:p>
        </p:txBody>
      </p:sp>
      <p:sp>
        <p:nvSpPr>
          <p:cNvPr id="990" name="TextBox 990"/>
          <p:cNvSpPr txBox="1"/>
          <p:nvPr/>
        </p:nvSpPr>
        <p:spPr>
          <a:xfrm>
            <a:off x="548640" y="644652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650">
                <a:solidFill>
                  <a:srgbClr val="66717B"/>
                </a:solidFill>
                <a:latin typeface="Microsoft YaHei"/>
                <a:ea typeface="Microsoft YaHei"/>
                <a:cs typeface="Microsoft YaHei"/>
              </a:rPr>
              <a:t>Open Co-Scientist Research Workbench</a:t>
            </a:r>
          </a:p>
        </p:txBody>
      </p:sp>
      <p:sp>
        <p:nvSpPr>
          <p:cNvPr id="991" name="TextBox 991"/>
          <p:cNvSpPr txBox="1"/>
          <p:nvPr/>
        </p:nvSpPr>
        <p:spPr>
          <a:xfrm>
            <a:off x="6583680" y="644652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650">
                <a:solidFill>
                  <a:srgbClr val="66717B"/>
                </a:solidFill>
                <a:latin typeface="Microsoft YaHei"/>
                <a:ea typeface="Microsoft YaHei"/>
                <a:cs typeface="Microsoft YaHei"/>
              </a:rPr>
              <a:t>evidence-first · human-in-the-loop · MiMo ready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Box 900"/>
          <p:cNvSpPr txBox="1"/>
          <p:nvPr/>
        </p:nvSpPr>
        <p:spPr>
          <a:xfrm>
            <a:off x="530352" y="34747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850">
                <a:b/>
                <a:solidFill>
                  <a:srgbClr val="0A7D87"/>
                </a:solidFill>
                <a:latin typeface="Microsoft YaHei"/>
                <a:ea typeface="Microsoft YaHei"/>
                <a:cs typeface="Microsoft YaHei"/>
              </a:rPr>
              <a:t>第三步</a:t>
            </a:r>
          </a:p>
        </p:txBody>
      </p:sp>
      <p:sp>
        <p:nvSpPr>
          <p:cNvPr id="901" name="TextBox 901"/>
          <p:cNvSpPr txBox="1"/>
          <p:nvPr/>
        </p:nvSpPr>
        <p:spPr>
          <a:xfrm>
            <a:off x="530352" y="713232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2450">
                <a:b/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使用证据工具台扩展证据链</a:t>
            </a:r>
          </a:p>
        </p:txBody>
      </p:sp>
      <p:sp>
        <p:nvSpPr>
          <p:cNvPr id="902" name="TextBox 902"/>
          <p:cNvSpPr txBox="1"/>
          <p:nvPr/>
        </p:nvSpPr>
        <p:spPr>
          <a:xfrm>
            <a:off x="548640" y="1261872"/>
            <a:ext cx="87782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1050">
                <a:solidFill>
                  <a:srgbClr val="52606B"/>
                </a:solidFill>
                <a:latin typeface="Microsoft YaHei"/>
                <a:ea typeface="Microsoft YaHei"/>
                <a:cs typeface="Microsoft YaHei"/>
              </a:rPr>
              <a:t>吸收 Hermes 的 tool registry、approval、background jobs 和 session search 思路。</a:t>
            </a:r>
          </a:p>
        </p:txBody>
      </p:sp>
      <p:pic>
        <p:nvPicPr>
          <p:cNvPr id="60" name="Picture 6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17320"/>
            <a:ext cx="6263640" cy="4160520"/>
          </a:xfrm>
          <a:prstGeom prst="rect">
            <a:avLst/>
          </a:prstGeom>
          <a:ln w="9525">
            <a:solidFill>
              <a:srgbClr val="DDE5EA"/>
            </a:solidFill>
          </a:ln>
        </p:spPr>
      </p:pic>
      <p:sp>
        <p:nvSpPr>
          <p:cNvPr id="61" name="TextBox 61"/>
          <p:cNvSpPr txBox="1"/>
          <p:nvPr/>
        </p:nvSpPr>
        <p:spPr>
          <a:xfrm>
            <a:off x="7269480" y="1572768"/>
            <a:ext cx="3977640" cy="841248"/>
          </a:xfrm>
          <a:prstGeom prst="roundRect">
            <a:avLst/>
          </a:prstGeom>
          <a:solidFill>
            <a:srgbClr val="E5F7F8"/>
          </a:solidFill>
          <a:ln w="9525">
            <a:solidFill>
              <a:srgbClr val="B9E7EB"/>
            </a:solidFill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历史证据回查</a:t>
            </a:r>
          </a:p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跨 run、hypothesis、tool result、task、background job 搜索，不把大 payload 直接铺出来。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269480" y="2633472"/>
            <a:ext cx="3977640" cy="841248"/>
          </a:xfrm>
          <a:prstGeom prst="roundRect">
            <a:avLst/>
          </a:prstGeom>
          <a:solidFill>
            <a:srgbClr val="E9F7EF"/>
          </a:solidFill>
          <a:ln w="9525">
            <a:solidFill>
              <a:srgbClr val="B8E4CB"/>
            </a:solidFill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本地文件证据快照</a:t>
            </a:r>
          </a:p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读取受限根目录内指定行段，保存 hash、mtime、snapshot artifact。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269480" y="3694176"/>
            <a:ext cx="3977640" cy="841248"/>
          </a:xfrm>
          <a:prstGeom prst="roundRect">
            <a:avLst/>
          </a:prstGeom>
          <a:solidFill>
            <a:srgbClr val="E9F7EF"/>
          </a:solidFill>
          <a:ln w="9525">
            <a:solidFill>
              <a:srgbClr val="B8E4CB"/>
            </a:solidFill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公开网页证据抽取</a:t>
            </a:r>
          </a:p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公开 HTTP(S) 文本/HTML 抽取，发现 PDF 和 supplementary links，可选入库。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7269480" y="4754880"/>
            <a:ext cx="3977640" cy="749808"/>
          </a:xfrm>
          <a:prstGeom prst="roundRect">
            <a:avLst/>
          </a:prstGeom>
          <a:solidFill>
            <a:srgbClr val="FFF5E7"/>
          </a:solidFill>
          <a:ln w="9525">
            <a:solidFill>
              <a:srgbClr val="F1D5AA"/>
            </a:solidFill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长期科研控制面</a:t>
            </a:r>
          </a:p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skills、schedules、delegations、tasks 和 background jobs 支持课题持续推进。</a:t>
            </a:r>
          </a:p>
        </p:txBody>
      </p:sp>
      <p:sp>
        <p:nvSpPr>
          <p:cNvPr id="990" name="TextBox 990"/>
          <p:cNvSpPr txBox="1"/>
          <p:nvPr/>
        </p:nvSpPr>
        <p:spPr>
          <a:xfrm>
            <a:off x="548640" y="644652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650">
                <a:solidFill>
                  <a:srgbClr val="66717B"/>
                </a:solidFill>
                <a:latin typeface="Microsoft YaHei"/>
                <a:ea typeface="Microsoft YaHei"/>
                <a:cs typeface="Microsoft YaHei"/>
              </a:rPr>
              <a:t>Open Co-Scientist Research Workbench</a:t>
            </a:r>
          </a:p>
        </p:txBody>
      </p:sp>
      <p:sp>
        <p:nvSpPr>
          <p:cNvPr id="991" name="TextBox 991"/>
          <p:cNvSpPr txBox="1"/>
          <p:nvPr/>
        </p:nvSpPr>
        <p:spPr>
          <a:xfrm>
            <a:off x="6583680" y="644652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650">
                <a:solidFill>
                  <a:srgbClr val="66717B"/>
                </a:solidFill>
                <a:latin typeface="Microsoft YaHei"/>
                <a:ea typeface="Microsoft YaHei"/>
                <a:cs typeface="Microsoft YaHei"/>
              </a:rPr>
              <a:t>evidence-first · human-in-the-loop · MiMo ready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Box 900"/>
          <p:cNvSpPr txBox="1"/>
          <p:nvPr/>
        </p:nvSpPr>
        <p:spPr>
          <a:xfrm>
            <a:off x="530352" y="34747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850">
                <a:b/>
                <a:solidFill>
                  <a:srgbClr val="0A7D87"/>
                </a:solidFill>
                <a:latin typeface="Microsoft YaHei"/>
                <a:ea typeface="Microsoft YaHei"/>
                <a:cs typeface="Microsoft YaHei"/>
              </a:rPr>
              <a:t>第四步</a:t>
            </a:r>
          </a:p>
        </p:txBody>
      </p:sp>
      <p:sp>
        <p:nvSpPr>
          <p:cNvPr id="901" name="TextBox 901"/>
          <p:cNvSpPr txBox="1"/>
          <p:nvPr/>
        </p:nvSpPr>
        <p:spPr>
          <a:xfrm>
            <a:off x="530352" y="713232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2450">
                <a:b/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检查每条假设的证据质量</a:t>
            </a:r>
          </a:p>
        </p:txBody>
      </p:sp>
      <p:sp>
        <p:nvSpPr>
          <p:cNvPr id="902" name="TextBox 902"/>
          <p:cNvSpPr txBox="1"/>
          <p:nvPr/>
        </p:nvSpPr>
        <p:spPr>
          <a:xfrm>
            <a:off x="548640" y="1261872"/>
            <a:ext cx="87782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1050">
                <a:solidFill>
                  <a:srgbClr val="52606B"/>
                </a:solidFill>
                <a:latin typeface="Microsoft YaHei"/>
                <a:ea typeface="Microsoft YaHei"/>
                <a:cs typeface="Microsoft YaHei"/>
              </a:rPr>
              <a:t>不是看模型说得像不像，而是看支撑链是否够强。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713232" y="1600200"/>
            <a:ext cx="2880360" cy="1234440"/>
          </a:xfrm>
          <a:prstGeom prst="roundRect">
            <a:avLst/>
          </a:prstGeom>
          <a:solidFill>
            <a:srgbClr val="E5F7F8"/>
          </a:solidFill>
          <a:ln w="9525">
            <a:solidFill>
              <a:srgbClr val="B9E7EB"/>
            </a:solidFill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必须回答</a:t>
            </a:r>
          </a:p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哪个 paper / chunk 支撑？support_level 是 fulltext、experimental_data 还是 metadata？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3822192" y="1600200"/>
            <a:ext cx="2880360" cy="1234440"/>
          </a:xfrm>
          <a:prstGeom prst="roundRect">
            <a:avLst/>
          </a:prstGeom>
          <a:solidFill>
            <a:srgbClr val="FFF5E7"/>
          </a:solidFill>
          <a:ln w="9525">
            <a:solidFill>
              <a:srgbClr val="F1D5AA"/>
            </a:solidFill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必须标注</a:t>
            </a:r>
          </a:p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citation_mismatch、limited_fulltext、ungrounded 等限制，不能伪装成文献审查结论。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6931152" y="1600200"/>
            <a:ext cx="2880360" cy="1234440"/>
          </a:xfrm>
          <a:prstGeom prst="roundRect">
            <a:avLst/>
          </a:prstGeom>
          <a:solidFill>
            <a:srgbClr val="E9F7EF"/>
          </a:solidFill>
          <a:ln w="9525">
            <a:solidFill>
              <a:srgbClr val="B8E4CB"/>
            </a:solidFill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必须形成下一步</a:t>
            </a:r>
          </a:p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若证据不足，生成待解析 PDF、待抓网页、待实验或待人工复核任务。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960120" y="3429000"/>
            <a:ext cx="9966960" cy="1508760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130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• 推荐研究生日常检查矩阵：Novelty、Scientific Soundness、Relevance、Feasibility、Safety/Ethics。</a:t>
            </a:r>
          </a:p>
          <a:p>
            <a:r>
              <a:rPr lang="zh-CN" sz="130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• 强证据优先级：parsed fulltext chunk + experiment table/figure + reproducible code/log。</a:t>
            </a:r>
          </a:p>
          <a:p>
            <a:r>
              <a:rPr lang="zh-CN" sz="130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• 弱证据只能支持“线索”或“模型生成提案”，不能支持论文结论。</a:t>
            </a:r>
          </a:p>
        </p:txBody>
      </p:sp>
      <p:sp>
        <p:nvSpPr>
          <p:cNvPr id="990" name="TextBox 990"/>
          <p:cNvSpPr txBox="1"/>
          <p:nvPr/>
        </p:nvSpPr>
        <p:spPr>
          <a:xfrm>
            <a:off x="548640" y="644652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650">
                <a:solidFill>
                  <a:srgbClr val="66717B"/>
                </a:solidFill>
                <a:latin typeface="Microsoft YaHei"/>
                <a:ea typeface="Microsoft YaHei"/>
                <a:cs typeface="Microsoft YaHei"/>
              </a:rPr>
              <a:t>Open Co-Scientist Research Workbench</a:t>
            </a:r>
          </a:p>
        </p:txBody>
      </p:sp>
      <p:sp>
        <p:nvSpPr>
          <p:cNvPr id="991" name="TextBox 991"/>
          <p:cNvSpPr txBox="1"/>
          <p:nvPr/>
        </p:nvSpPr>
        <p:spPr>
          <a:xfrm>
            <a:off x="6583680" y="644652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650">
                <a:solidFill>
                  <a:srgbClr val="66717B"/>
                </a:solidFill>
                <a:latin typeface="Microsoft YaHei"/>
                <a:ea typeface="Microsoft YaHei"/>
                <a:cs typeface="Microsoft YaHei"/>
              </a:rPr>
              <a:t>evidence-first · human-in-the-loop · MiMo ready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Box 900"/>
          <p:cNvSpPr txBox="1"/>
          <p:nvPr/>
        </p:nvSpPr>
        <p:spPr>
          <a:xfrm>
            <a:off x="530352" y="34747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850">
                <a:b/>
                <a:solidFill>
                  <a:srgbClr val="0A7D87"/>
                </a:solidFill>
                <a:latin typeface="Microsoft YaHei"/>
                <a:ea typeface="Microsoft YaHei"/>
                <a:cs typeface="Microsoft YaHei"/>
              </a:rPr>
              <a:t>基座模型协议</a:t>
            </a:r>
          </a:p>
        </p:txBody>
      </p:sp>
      <p:sp>
        <p:nvSpPr>
          <p:cNvPr id="901" name="TextBox 901"/>
          <p:cNvSpPr txBox="1"/>
          <p:nvPr/>
        </p:nvSpPr>
        <p:spPr>
          <a:xfrm>
            <a:off x="530352" y="713232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2450">
                <a:b/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后台设置里选择 MiMo 或其他模型通道</a:t>
            </a:r>
          </a:p>
        </p:txBody>
      </p:sp>
      <p:sp>
        <p:nvSpPr>
          <p:cNvPr id="902" name="TextBox 902"/>
          <p:cNvSpPr txBox="1"/>
          <p:nvPr/>
        </p:nvSpPr>
        <p:spPr>
          <a:xfrm>
            <a:off x="548640" y="1261872"/>
            <a:ext cx="87782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1050">
                <a:solidFill>
                  <a:srgbClr val="52606B"/>
                </a:solidFill>
                <a:latin typeface="Microsoft YaHei"/>
                <a:ea typeface="Microsoft YaHei"/>
                <a:cs typeface="Microsoft YaHei"/>
              </a:rPr>
              <a:t>MiMo 已按 OpenAI-compatible endpoint 接入，使用独立 MIMO_API_KEY。</a:t>
            </a:r>
          </a:p>
        </p:txBody>
      </p:sp>
      <p:pic>
        <p:nvPicPr>
          <p:cNvPr id="80" name="Picture 8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81328"/>
            <a:ext cx="6035040" cy="4160520"/>
          </a:xfrm>
          <a:prstGeom prst="rect">
            <a:avLst/>
          </a:prstGeom>
          <a:ln w="9525">
            <a:solidFill>
              <a:srgbClr val="DDE5EA"/>
            </a:solidFill>
          </a:ln>
        </p:spPr>
      </p:pic>
      <p:sp>
        <p:nvSpPr>
          <p:cNvPr id="81" name="TextBox 81"/>
          <p:cNvSpPr txBox="1"/>
          <p:nvPr/>
        </p:nvSpPr>
        <p:spPr>
          <a:xfrm>
            <a:off x="7150608" y="1627632"/>
            <a:ext cx="4069080" cy="914400"/>
          </a:xfrm>
          <a:prstGeom prst="roundRect">
            <a:avLst/>
          </a:prstGeom>
          <a:solidFill>
            <a:srgbClr val="E9F7EF"/>
          </a:solidFill>
          <a:ln w="9525">
            <a:solidFill>
              <a:srgbClr val="B8E4CB"/>
            </a:solidFill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新增 MiMo</a:t>
            </a:r>
          </a:p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模型下拉中可选择 MiMo v2.5 Pro / v2.5 / v2 Pro / v2 Flash。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7150608" y="2743200"/>
            <a:ext cx="4069080" cy="914400"/>
          </a:xfrm>
          <a:prstGeom prst="roundRect">
            <a:avLst/>
          </a:prstGeom>
          <a:solidFill>
            <a:srgbClr val="E5F7F8"/>
          </a:solidFill>
          <a:ln w="9525">
            <a:solidFill>
              <a:srgbClr val="B9E7EB"/>
            </a:solidFill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协议边界</a:t>
            </a:r>
          </a:p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模型名使用 openai/mimo-v2.5-pro；后端注入 MIMO_API_BASE 和 MIMO_API_KEY。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7150608" y="3858768"/>
            <a:ext cx="4069080" cy="914400"/>
          </a:xfrm>
          <a:prstGeom prst="roundRect">
            <a:avLst/>
          </a:prstGeom>
          <a:solidFill>
            <a:srgbClr val="E9F7EF"/>
          </a:solidFill>
          <a:ln w="9525">
            <a:solidFill>
              <a:srgbClr val="B8E4CB"/>
            </a:solidFill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已验证</a:t>
            </a:r>
          </a:p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本地 key 可访问 /models；FastAPI translation endpoint 经 MiMo 返回有效中文。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7150608" y="4974336"/>
            <a:ext cx="4069080" cy="749808"/>
          </a:xfrm>
          <a:prstGeom prst="roundRect">
            <a:avLst/>
          </a:prstGeom>
          <a:solidFill>
            <a:srgbClr val="FFF5E7"/>
          </a:solidFill>
          <a:ln w="9525">
            <a:solidFill>
              <a:srgbClr val="F1D5AA"/>
            </a:solidFill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注意</a:t>
            </a:r>
          </a:p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MiMo key 不进入 PPT、不进入前端、不复用 OPENAI_API_KEY。</a:t>
            </a:r>
          </a:p>
        </p:txBody>
      </p:sp>
      <p:sp>
        <p:nvSpPr>
          <p:cNvPr id="990" name="TextBox 990"/>
          <p:cNvSpPr txBox="1"/>
          <p:nvPr/>
        </p:nvSpPr>
        <p:spPr>
          <a:xfrm>
            <a:off x="548640" y="644652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650">
                <a:solidFill>
                  <a:srgbClr val="66717B"/>
                </a:solidFill>
                <a:latin typeface="Microsoft YaHei"/>
                <a:ea typeface="Microsoft YaHei"/>
                <a:cs typeface="Microsoft YaHei"/>
              </a:rPr>
              <a:t>Open Co-Scientist Research Workbench</a:t>
            </a:r>
          </a:p>
        </p:txBody>
      </p:sp>
      <p:sp>
        <p:nvSpPr>
          <p:cNvPr id="991" name="TextBox 991"/>
          <p:cNvSpPr txBox="1"/>
          <p:nvPr/>
        </p:nvSpPr>
        <p:spPr>
          <a:xfrm>
            <a:off x="6583680" y="644652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650">
                <a:solidFill>
                  <a:srgbClr val="66717B"/>
                </a:solidFill>
                <a:latin typeface="Microsoft YaHei"/>
                <a:ea typeface="Microsoft YaHei"/>
                <a:cs typeface="Microsoft YaHei"/>
              </a:rPr>
              <a:t>evidence-first · human-in-the-loop · MiMo ready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Box 900"/>
          <p:cNvSpPr txBox="1"/>
          <p:nvPr/>
        </p:nvSpPr>
        <p:spPr>
          <a:xfrm>
            <a:off x="530352" y="34747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850">
                <a:b/>
                <a:solidFill>
                  <a:srgbClr val="0A7D87"/>
                </a:solidFill>
                <a:latin typeface="Microsoft YaHei"/>
                <a:ea typeface="Microsoft YaHei"/>
                <a:cs typeface="Microsoft YaHei"/>
              </a:rPr>
              <a:t>研究生日常操作建议</a:t>
            </a:r>
          </a:p>
        </p:txBody>
      </p:sp>
      <p:sp>
        <p:nvSpPr>
          <p:cNvPr id="901" name="TextBox 901"/>
          <p:cNvSpPr txBox="1"/>
          <p:nvPr/>
        </p:nvSpPr>
        <p:spPr>
          <a:xfrm>
            <a:off x="530352" y="713232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2450">
                <a:b/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把 AI 用成科研流程管理器</a:t>
            </a:r>
          </a:p>
        </p:txBody>
      </p:sp>
      <p:sp>
        <p:nvSpPr>
          <p:cNvPr id="902" name="TextBox 902"/>
          <p:cNvSpPr txBox="1"/>
          <p:nvPr/>
        </p:nvSpPr>
        <p:spPr>
          <a:xfrm>
            <a:off x="548640" y="1261872"/>
            <a:ext cx="87782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1050">
                <a:solidFill>
                  <a:srgbClr val="52606B"/>
                </a:solidFill>
                <a:latin typeface="Microsoft YaHei"/>
                <a:ea typeface="Microsoft YaHei"/>
                <a:cs typeface="Microsoft YaHei"/>
              </a:rPr>
              <a:t>每次使用都留下可复盘对象。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777240" y="1600200"/>
            <a:ext cx="3154680" cy="1005840"/>
          </a:xfrm>
          <a:prstGeom prst="roundRect">
            <a:avLst/>
          </a:prstGeom>
          <a:solidFill>
            <a:srgbClr val="E5F7F8"/>
          </a:solidFill>
          <a:ln w="9525">
            <a:solidFill>
              <a:srgbClr val="B9E7EB"/>
            </a:solidFill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开始前</a:t>
            </a:r>
          </a:p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写清 research_goal、领域、约束、不可做什么、希望验证什么。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4526280" y="1600200"/>
            <a:ext cx="3154680" cy="1005840"/>
          </a:xfrm>
          <a:prstGeom prst="roundRect">
            <a:avLst/>
          </a:prstGeom>
          <a:solidFill>
            <a:srgbClr val="E9F7EF"/>
          </a:solidFill>
          <a:ln w="9525">
            <a:solidFill>
              <a:srgbClr val="B8E4CB"/>
            </a:solidFill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运行中</a:t>
            </a:r>
          </a:p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先补证据，再生成假设；遇到不足就创建任务，不硬凑结论。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8275320" y="1600200"/>
            <a:ext cx="3154680" cy="1005840"/>
          </a:xfrm>
          <a:prstGeom prst="roundRect">
            <a:avLst/>
          </a:prstGeom>
          <a:solidFill>
            <a:srgbClr val="FFF5E7"/>
          </a:solidFill>
          <a:ln w="9525">
            <a:solidFill>
              <a:srgbClr val="F1D5AA"/>
            </a:solidFill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汇报前</a:t>
            </a:r>
          </a:p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检查 citation provenance、实验失败条件、ranking 依据和人工复核意见。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914400" y="3337560"/>
            <a:ext cx="10149840" cy="1737360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130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• 不要把 demo simulation 当科研发现。</a:t>
            </a:r>
          </a:p>
          <a:p>
            <a:r>
              <a:rPr lang="zh-CN" sz="130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• 不要让模型引用没有入库的论文或不存在的实验结果。</a:t>
            </a:r>
          </a:p>
          <a:p>
            <a:r>
              <a:rPr lang="zh-CN" sz="130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• 每条重要结论都要能回到 PDF chunk、网页快照、代码快照、实验日志或 tool result。</a:t>
            </a:r>
          </a:p>
          <a:p>
            <a:r>
              <a:rPr lang="zh-CN" sz="130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• 导师评审时优先追问 evidence_id / support_level / source_reliability，而不是只看语言质量。</a:t>
            </a:r>
          </a:p>
        </p:txBody>
      </p:sp>
      <p:sp>
        <p:nvSpPr>
          <p:cNvPr id="990" name="TextBox 990"/>
          <p:cNvSpPr txBox="1"/>
          <p:nvPr/>
        </p:nvSpPr>
        <p:spPr>
          <a:xfrm>
            <a:off x="548640" y="644652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650">
                <a:solidFill>
                  <a:srgbClr val="66717B"/>
                </a:solidFill>
                <a:latin typeface="Microsoft YaHei"/>
                <a:ea typeface="Microsoft YaHei"/>
                <a:cs typeface="Microsoft YaHei"/>
              </a:rPr>
              <a:t>Open Co-Scientist Research Workbench</a:t>
            </a:r>
          </a:p>
        </p:txBody>
      </p:sp>
      <p:sp>
        <p:nvSpPr>
          <p:cNvPr id="991" name="TextBox 991"/>
          <p:cNvSpPr txBox="1"/>
          <p:nvPr/>
        </p:nvSpPr>
        <p:spPr>
          <a:xfrm>
            <a:off x="6583680" y="644652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650">
                <a:solidFill>
                  <a:srgbClr val="66717B"/>
                </a:solidFill>
                <a:latin typeface="Microsoft YaHei"/>
                <a:ea typeface="Microsoft YaHei"/>
                <a:cs typeface="Microsoft YaHei"/>
              </a:rPr>
              <a:t>evidence-first · human-in-the-loop · MiMo ready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Box 900"/>
          <p:cNvSpPr txBox="1"/>
          <p:nvPr/>
        </p:nvSpPr>
        <p:spPr>
          <a:xfrm>
            <a:off x="530352" y="34747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850">
                <a:b/>
                <a:solidFill>
                  <a:srgbClr val="0A7D87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901" name="TextBox 901"/>
          <p:cNvSpPr txBox="1"/>
          <p:nvPr/>
        </p:nvSpPr>
        <p:spPr>
          <a:xfrm>
            <a:off x="530352" y="713232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2450">
                <a:b/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这个项目如何真正辅助科研</a:t>
            </a:r>
          </a:p>
        </p:txBody>
      </p:sp>
      <p:sp>
        <p:nvSpPr>
          <p:cNvPr id="902" name="TextBox 902"/>
          <p:cNvSpPr txBox="1"/>
          <p:nvPr/>
        </p:nvSpPr>
        <p:spPr>
          <a:xfrm>
            <a:off x="548640" y="1261872"/>
            <a:ext cx="87782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1050">
                <a:solidFill>
                  <a:srgbClr val="52606B"/>
                </a:solidFill>
                <a:latin typeface="Microsoft YaHei"/>
                <a:ea typeface="Microsoft YaHei"/>
                <a:cs typeface="Microsoft YaHei"/>
              </a:rPr>
              <a:t>它把模型能力、工具调用和证据管理结合成可审计闭环。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914400" y="1600200"/>
            <a:ext cx="2926080" cy="1645920"/>
          </a:xfrm>
          <a:prstGeom prst="roundRect">
            <a:avLst/>
          </a:prstGeom>
          <a:solidFill>
            <a:srgbClr val="E5F7F8"/>
          </a:solidFill>
          <a:ln w="9525">
            <a:solidFill>
              <a:srgbClr val="B9E7EB"/>
            </a:solidFill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对学生</a:t>
            </a:r>
          </a:p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更快完成文献阅读、假设形成、实验计划和报告组织，同时保留证据链。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4617720" y="1600200"/>
            <a:ext cx="2926080" cy="1645920"/>
          </a:xfrm>
          <a:prstGeom prst="roundRect">
            <a:avLst/>
          </a:prstGeom>
          <a:solidFill>
            <a:srgbClr val="E9F7EF"/>
          </a:solidFill>
          <a:ln w="9525">
            <a:solidFill>
              <a:srgbClr val="B8E4CB"/>
            </a:solidFill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对导师</a:t>
            </a:r>
          </a:p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更容易检查学生的证据质量、实验可证伪性和过程合规性。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8321040" y="1600200"/>
            <a:ext cx="2926080" cy="1645920"/>
          </a:xfrm>
          <a:prstGeom prst="roundRect">
            <a:avLst/>
          </a:prstGeom>
          <a:solidFill>
            <a:srgbClr val="FFF5E7"/>
          </a:solidFill>
          <a:ln w="9525">
            <a:solidFill>
              <a:srgbClr val="F1D5AA"/>
            </a:solidFill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对课题组</a:t>
            </a:r>
          </a:p>
          <a:p>
            <a:r>
              <a:rPr lang="zh-CN" sz="950"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形成长期知识库、任务板、方法模板和可复用研究资产。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960120" y="3977640"/>
            <a:ext cx="10058400" cy="621792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1500">
                <a:b/>
                <a:solidFill>
                  <a:srgbClr val="0B0D0F"/>
                </a:solidFill>
                <a:latin typeface="Microsoft YaHei"/>
                <a:ea typeface="Microsoft YaHei"/>
                <a:cs typeface="Microsoft YaHei"/>
              </a:rPr>
              <a:t>下一步建议：先选 3-5 篇核心论文完成 PDF 解析入库，再围绕一个明确 research_goal 跑一次 live workflow，并用证据工具台补齐弱支撑。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1874520" y="5074920"/>
            <a:ext cx="8138160" cy="329184"/>
          </a:xfrm>
          <a:prstGeom prst="roundRect">
            <a:avLst/>
          </a:prstGeom>
          <a:solidFill>
            <a:srgbClr val="E9F7EF"/>
          </a:solidFill>
          <a:ln w="9525">
            <a:solidFill>
              <a:srgbClr val="B8E4CB"/>
            </a:solidFill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950">
                <a:b/>
                <a:solidFill>
                  <a:srgbClr val="18794E"/>
                </a:solidFill>
                <a:latin typeface="Microsoft YaHei"/>
                <a:ea typeface="Microsoft YaHei"/>
                <a:cs typeface="Microsoft YaHei"/>
              </a:rPr>
              <a:t>目标：不是自动替代科研，而是让科研判断可追溯、可反驳、可继续迭代</a:t>
            </a:r>
          </a:p>
        </p:txBody>
      </p:sp>
      <p:sp>
        <p:nvSpPr>
          <p:cNvPr id="990" name="TextBox 990"/>
          <p:cNvSpPr txBox="1"/>
          <p:nvPr/>
        </p:nvSpPr>
        <p:spPr>
          <a:xfrm>
            <a:off x="548640" y="644652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650">
                <a:solidFill>
                  <a:srgbClr val="66717B"/>
                </a:solidFill>
                <a:latin typeface="Microsoft YaHei"/>
                <a:ea typeface="Microsoft YaHei"/>
                <a:cs typeface="Microsoft YaHei"/>
              </a:rPr>
              <a:t>Open Co-Scientist Research Workbench</a:t>
            </a:r>
          </a:p>
        </p:txBody>
      </p:sp>
      <p:sp>
        <p:nvSpPr>
          <p:cNvPr id="991" name="TextBox 991"/>
          <p:cNvSpPr txBox="1"/>
          <p:nvPr/>
        </p:nvSpPr>
        <p:spPr>
          <a:xfrm>
            <a:off x="6583680" y="644652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>
            <a:spAutoFit/>
          </a:bodyPr>
          <a:lstStyle/>
          <a:p>
            <a:r>
              <a:rPr lang="zh-CN" sz="650">
                <a:solidFill>
                  <a:srgbClr val="66717B"/>
                </a:solidFill>
                <a:latin typeface="Microsoft YaHei"/>
                <a:ea typeface="Microsoft YaHei"/>
                <a:cs typeface="Microsoft YaHei"/>
              </a:rPr>
              <a:t>evidence-first · human-in-the-loop · MiMo 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CoScientist">
  <a:themeElements>
    <a:clrScheme name="Open">
      <a:dk1>
        <a:srgbClr val="0B0D0F"/>
      </a:dk1>
      <a:lt1>
        <a:srgbClr val="FFFFFF"/>
      </a:lt1>
      <a:dk2>
        <a:srgbClr val="52606B"/>
      </a:dk2>
      <a:lt2>
        <a:srgbClr val="F6F7F8"/>
      </a:lt2>
      <a:accent1>
        <a:srgbClr val="0A7D87"/>
      </a:accent1>
      <a:accent2>
        <a:srgbClr val="18794E"/>
      </a:accent2>
      <a:accent3>
        <a:srgbClr val="9A5B10"/>
      </a:accent3>
      <a:accent4>
        <a:srgbClr val="B42318"/>
      </a:accent4>
      <a:accent5>
        <a:srgbClr val="66717B"/>
      </a:accent5>
      <a:accent6>
        <a:srgbClr val="DDE5EA"/>
      </a:accent6>
      <a:hlink>
        <a:srgbClr val="0A7D87"/>
      </a:hlink>
      <a:folHlink>
        <a:srgbClr val="075F66"/>
      </a:folHlink>
    </a:clrScheme>
    <a:fontScheme name="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Defaul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PowerPoint</Application>
  <PresentationFormat>Widescreen</PresentationFormat>
  <Slides>10</Slides>
  <Company>Yanshan University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研究生科研辅助使用演示</dc:title>
  <dc:creator>Open Co-Scientist Workbench</dc:creator>
  <cp:lastModifiedBy>Codex</cp:lastModifiedBy>
  <dcterms:created xsi:type="dcterms:W3CDTF">2026-06-18T11:43:26+00:00</dcterms:created>
  <dcterms:modified xsi:type="dcterms:W3CDTF">2026-06-18T11:43:26+00:00</dcterms:modified>
</cp:coreProperties>
</file>